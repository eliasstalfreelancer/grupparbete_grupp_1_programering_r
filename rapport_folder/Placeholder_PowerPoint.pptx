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0DAAF8-6D02-4C02-B44C-E6EC11291832}" v="16" dt="2026-04-21T16:14:03.1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150" d="100"/>
          <a:sy n="150" d="100"/>
        </p:scale>
        <p:origin x="70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s Lindström" userId="e2164e0498dd284e" providerId="LiveId" clId="{7A0E95E1-3C7A-43FC-80A2-7D6B146ED67F}"/>
    <pc:docChg chg="undo custSel addSld modSld sldOrd">
      <pc:chgData name="Jonas Lindström" userId="e2164e0498dd284e" providerId="LiveId" clId="{7A0E95E1-3C7A-43FC-80A2-7D6B146ED67F}" dt="2026-04-21T16:14:09.113" v="271" actId="27636"/>
      <pc:docMkLst>
        <pc:docMk/>
      </pc:docMkLst>
      <pc:sldChg chg="addSp modSp mod">
        <pc:chgData name="Jonas Lindström" userId="e2164e0498dd284e" providerId="LiveId" clId="{7A0E95E1-3C7A-43FC-80A2-7D6B146ED67F}" dt="2026-04-21T15:59:58.792" v="147" actId="1076"/>
        <pc:sldMkLst>
          <pc:docMk/>
          <pc:sldMk cId="3953451600" sldId="256"/>
        </pc:sldMkLst>
        <pc:spChg chg="mod">
          <ac:chgData name="Jonas Lindström" userId="e2164e0498dd284e" providerId="LiveId" clId="{7A0E95E1-3C7A-43FC-80A2-7D6B146ED67F}" dt="2026-04-21T15:59:50.255" v="146" actId="1076"/>
          <ac:spMkLst>
            <pc:docMk/>
            <pc:sldMk cId="3953451600" sldId="256"/>
            <ac:spMk id="2" creationId="{1BAC2DB2-902E-FF99-F330-B294AC624440}"/>
          </ac:spMkLst>
        </pc:spChg>
        <pc:spChg chg="mod">
          <ac:chgData name="Jonas Lindström" userId="e2164e0498dd284e" providerId="LiveId" clId="{7A0E95E1-3C7A-43FC-80A2-7D6B146ED67F}" dt="2026-04-21T15:59:58.792" v="147" actId="1076"/>
          <ac:spMkLst>
            <pc:docMk/>
            <pc:sldMk cId="3953451600" sldId="256"/>
            <ac:spMk id="3" creationId="{CC3A427F-9ABE-633D-1611-DC98EA321951}"/>
          </ac:spMkLst>
        </pc:spChg>
        <pc:spChg chg="add mod">
          <ac:chgData name="Jonas Lindström" userId="e2164e0498dd284e" providerId="LiveId" clId="{7A0E95E1-3C7A-43FC-80A2-7D6B146ED67F}" dt="2026-04-21T15:59:39.808" v="145" actId="1076"/>
          <ac:spMkLst>
            <pc:docMk/>
            <pc:sldMk cId="3953451600" sldId="256"/>
            <ac:spMk id="4" creationId="{5E25A7B1-648F-936A-7CD6-4565EA6AB0EE}"/>
          </ac:spMkLst>
        </pc:spChg>
      </pc:sldChg>
      <pc:sldChg chg="modSp new mod">
        <pc:chgData name="Jonas Lindström" userId="e2164e0498dd284e" providerId="LiveId" clId="{7A0E95E1-3C7A-43FC-80A2-7D6B146ED67F}" dt="2026-04-21T16:05:38.473" v="229" actId="20577"/>
        <pc:sldMkLst>
          <pc:docMk/>
          <pc:sldMk cId="2859858017" sldId="257"/>
        </pc:sldMkLst>
        <pc:spChg chg="mod">
          <ac:chgData name="Jonas Lindström" userId="e2164e0498dd284e" providerId="LiveId" clId="{7A0E95E1-3C7A-43FC-80A2-7D6B146ED67F}" dt="2026-04-21T16:05:38.473" v="229" actId="20577"/>
          <ac:spMkLst>
            <pc:docMk/>
            <pc:sldMk cId="2859858017" sldId="257"/>
            <ac:spMk id="2" creationId="{C026C994-65FF-9732-77A1-B649D53AB6E7}"/>
          </ac:spMkLst>
        </pc:spChg>
        <pc:spChg chg="mod">
          <ac:chgData name="Jonas Lindström" userId="e2164e0498dd284e" providerId="LiveId" clId="{7A0E95E1-3C7A-43FC-80A2-7D6B146ED67F}" dt="2026-04-21T16:01:53.351" v="218" actId="20577"/>
          <ac:spMkLst>
            <pc:docMk/>
            <pc:sldMk cId="2859858017" sldId="257"/>
            <ac:spMk id="3" creationId="{9ABC6592-74ED-85EB-720C-A2454EDC6F85}"/>
          </ac:spMkLst>
        </pc:spChg>
      </pc:sldChg>
      <pc:sldChg chg="addSp delSp modSp new mod ord">
        <pc:chgData name="Jonas Lindström" userId="e2164e0498dd284e" providerId="LiveId" clId="{7A0E95E1-3C7A-43FC-80A2-7D6B146ED67F}" dt="2026-04-21T16:08:32.529" v="230" actId="931"/>
        <pc:sldMkLst>
          <pc:docMk/>
          <pc:sldMk cId="492862340" sldId="258"/>
        </pc:sldMkLst>
        <pc:spChg chg="mod">
          <ac:chgData name="Jonas Lindström" userId="e2164e0498dd284e" providerId="LiveId" clId="{7A0E95E1-3C7A-43FC-80A2-7D6B146ED67F}" dt="2026-04-21T16:05:26.794" v="227" actId="122"/>
          <ac:spMkLst>
            <pc:docMk/>
            <pc:sldMk cId="492862340" sldId="258"/>
            <ac:spMk id="2" creationId="{5DFAE203-21A2-A7C4-CCF8-A3B2BEA3D490}"/>
          </ac:spMkLst>
        </pc:spChg>
        <pc:spChg chg="del">
          <ac:chgData name="Jonas Lindström" userId="e2164e0498dd284e" providerId="LiveId" clId="{7A0E95E1-3C7A-43FC-80A2-7D6B146ED67F}" dt="2026-04-21T16:08:32.529" v="230" actId="931"/>
          <ac:spMkLst>
            <pc:docMk/>
            <pc:sldMk cId="492862340" sldId="258"/>
            <ac:spMk id="3" creationId="{D0A0FEF1-FF30-12FD-921A-A06D961EB046}"/>
          </ac:spMkLst>
        </pc:spChg>
        <pc:picChg chg="add mod ord">
          <ac:chgData name="Jonas Lindström" userId="e2164e0498dd284e" providerId="LiveId" clId="{7A0E95E1-3C7A-43FC-80A2-7D6B146ED67F}" dt="2026-04-21T16:08:32.529" v="230" actId="931"/>
          <ac:picMkLst>
            <pc:docMk/>
            <pc:sldMk cId="492862340" sldId="258"/>
            <ac:picMk id="5" creationId="{135F435D-08C7-58B7-7FC5-6EE5569C35BC}"/>
          </ac:picMkLst>
        </pc:picChg>
      </pc:sldChg>
      <pc:sldChg chg="addSp delSp modSp new mod">
        <pc:chgData name="Jonas Lindström" userId="e2164e0498dd284e" providerId="LiveId" clId="{7A0E95E1-3C7A-43FC-80A2-7D6B146ED67F}" dt="2026-04-21T16:10:19.411" v="240" actId="931"/>
        <pc:sldMkLst>
          <pc:docMk/>
          <pc:sldMk cId="3008716438" sldId="259"/>
        </pc:sldMkLst>
        <pc:spChg chg="mod">
          <ac:chgData name="Jonas Lindström" userId="e2164e0498dd284e" providerId="LiveId" clId="{7A0E95E1-3C7A-43FC-80A2-7D6B146ED67F}" dt="2026-04-21T16:09:03.834" v="237" actId="122"/>
          <ac:spMkLst>
            <pc:docMk/>
            <pc:sldMk cId="3008716438" sldId="259"/>
            <ac:spMk id="2" creationId="{05F897E7-D893-BC62-EE7D-1487DB9FBCFA}"/>
          </ac:spMkLst>
        </pc:spChg>
        <pc:spChg chg="del">
          <ac:chgData name="Jonas Lindström" userId="e2164e0498dd284e" providerId="LiveId" clId="{7A0E95E1-3C7A-43FC-80A2-7D6B146ED67F}" dt="2026-04-21T16:10:09.748" v="238" actId="931"/>
          <ac:spMkLst>
            <pc:docMk/>
            <pc:sldMk cId="3008716438" sldId="259"/>
            <ac:spMk id="3" creationId="{AAF56F41-131A-4F29-A88E-7980FFAB41B5}"/>
          </ac:spMkLst>
        </pc:spChg>
        <pc:spChg chg="add del mod">
          <ac:chgData name="Jonas Lindström" userId="e2164e0498dd284e" providerId="LiveId" clId="{7A0E95E1-3C7A-43FC-80A2-7D6B146ED67F}" dt="2026-04-21T16:10:19.411" v="240" actId="931"/>
          <ac:spMkLst>
            <pc:docMk/>
            <pc:sldMk cId="3008716438" sldId="259"/>
            <ac:spMk id="7" creationId="{41A84F87-16AC-7CC6-1EB6-DEF2DB35480B}"/>
          </ac:spMkLst>
        </pc:spChg>
        <pc:picChg chg="add del mod ord">
          <ac:chgData name="Jonas Lindström" userId="e2164e0498dd284e" providerId="LiveId" clId="{7A0E95E1-3C7A-43FC-80A2-7D6B146ED67F}" dt="2026-04-21T16:10:14.410" v="239" actId="478"/>
          <ac:picMkLst>
            <pc:docMk/>
            <pc:sldMk cId="3008716438" sldId="259"/>
            <ac:picMk id="5" creationId="{AD20202C-3DCB-C9F6-BDC8-BED38F91EC32}"/>
          </ac:picMkLst>
        </pc:picChg>
        <pc:picChg chg="add mod ord">
          <ac:chgData name="Jonas Lindström" userId="e2164e0498dd284e" providerId="LiveId" clId="{7A0E95E1-3C7A-43FC-80A2-7D6B146ED67F}" dt="2026-04-21T16:10:19.411" v="240" actId="931"/>
          <ac:picMkLst>
            <pc:docMk/>
            <pc:sldMk cId="3008716438" sldId="259"/>
            <ac:picMk id="9" creationId="{6B5F6972-28A2-BCF9-D171-6E4C8E4DC808}"/>
          </ac:picMkLst>
        </pc:picChg>
      </pc:sldChg>
      <pc:sldChg chg="addSp delSp modSp new mod">
        <pc:chgData name="Jonas Lindström" userId="e2164e0498dd284e" providerId="LiveId" clId="{7A0E95E1-3C7A-43FC-80A2-7D6B146ED67F}" dt="2026-04-21T16:12:34.824" v="246" actId="931"/>
        <pc:sldMkLst>
          <pc:docMk/>
          <pc:sldMk cId="3192255978" sldId="260"/>
        </pc:sldMkLst>
        <pc:spChg chg="mod">
          <ac:chgData name="Jonas Lindström" userId="e2164e0498dd284e" providerId="LiveId" clId="{7A0E95E1-3C7A-43FC-80A2-7D6B146ED67F}" dt="2026-04-21T16:12:26.154" v="245" actId="122"/>
          <ac:spMkLst>
            <pc:docMk/>
            <pc:sldMk cId="3192255978" sldId="260"/>
            <ac:spMk id="2" creationId="{AF503445-BA83-9218-D0A2-57B271D6224E}"/>
          </ac:spMkLst>
        </pc:spChg>
        <pc:spChg chg="del">
          <ac:chgData name="Jonas Lindström" userId="e2164e0498dd284e" providerId="LiveId" clId="{7A0E95E1-3C7A-43FC-80A2-7D6B146ED67F}" dt="2026-04-21T16:12:34.824" v="246" actId="931"/>
          <ac:spMkLst>
            <pc:docMk/>
            <pc:sldMk cId="3192255978" sldId="260"/>
            <ac:spMk id="3" creationId="{97DCD4CB-DA5C-CE2A-26BB-5ADD849060A9}"/>
          </ac:spMkLst>
        </pc:spChg>
        <pc:picChg chg="add mod ord">
          <ac:chgData name="Jonas Lindström" userId="e2164e0498dd284e" providerId="LiveId" clId="{7A0E95E1-3C7A-43FC-80A2-7D6B146ED67F}" dt="2026-04-21T16:12:34.824" v="246" actId="931"/>
          <ac:picMkLst>
            <pc:docMk/>
            <pc:sldMk cId="3192255978" sldId="260"/>
            <ac:picMk id="5" creationId="{1A7E5073-EA28-ED5F-3832-3DEC9C6AFF3C}"/>
          </ac:picMkLst>
        </pc:picChg>
      </pc:sldChg>
      <pc:sldChg chg="modSp new mod">
        <pc:chgData name="Jonas Lindström" userId="e2164e0498dd284e" providerId="LiveId" clId="{7A0E95E1-3C7A-43FC-80A2-7D6B146ED67F}" dt="2026-04-21T16:13:40.457" v="261" actId="20577"/>
        <pc:sldMkLst>
          <pc:docMk/>
          <pc:sldMk cId="4041843504" sldId="261"/>
        </pc:sldMkLst>
        <pc:spChg chg="mod">
          <ac:chgData name="Jonas Lindström" userId="e2164e0498dd284e" providerId="LiveId" clId="{7A0E95E1-3C7A-43FC-80A2-7D6B146ED67F}" dt="2026-04-21T16:13:21.833" v="253"/>
          <ac:spMkLst>
            <pc:docMk/>
            <pc:sldMk cId="4041843504" sldId="261"/>
            <ac:spMk id="2" creationId="{D0F086F6-F90B-7629-57D3-43E0405B81D4}"/>
          </ac:spMkLst>
        </pc:spChg>
        <pc:spChg chg="mod">
          <ac:chgData name="Jonas Lindström" userId="e2164e0498dd284e" providerId="LiveId" clId="{7A0E95E1-3C7A-43FC-80A2-7D6B146ED67F}" dt="2026-04-21T16:13:40.457" v="261" actId="20577"/>
          <ac:spMkLst>
            <pc:docMk/>
            <pc:sldMk cId="4041843504" sldId="261"/>
            <ac:spMk id="3" creationId="{E0FE7084-07EF-DDF5-B5B9-964FB7E887B6}"/>
          </ac:spMkLst>
        </pc:spChg>
      </pc:sldChg>
      <pc:sldChg chg="modSp new mod">
        <pc:chgData name="Jonas Lindström" userId="e2164e0498dd284e" providerId="LiveId" clId="{7A0E95E1-3C7A-43FC-80A2-7D6B146ED67F}" dt="2026-04-21T16:14:09.113" v="271" actId="27636"/>
        <pc:sldMkLst>
          <pc:docMk/>
          <pc:sldMk cId="37354508" sldId="262"/>
        </pc:sldMkLst>
        <pc:spChg chg="mod">
          <ac:chgData name="Jonas Lindström" userId="e2164e0498dd284e" providerId="LiveId" clId="{7A0E95E1-3C7A-43FC-80A2-7D6B146ED67F}" dt="2026-04-21T16:13:55.427" v="264" actId="122"/>
          <ac:spMkLst>
            <pc:docMk/>
            <pc:sldMk cId="37354508" sldId="262"/>
            <ac:spMk id="2" creationId="{EA936563-CED3-EFCF-2449-9D3F10BB5B66}"/>
          </ac:spMkLst>
        </pc:spChg>
        <pc:spChg chg="mod">
          <ac:chgData name="Jonas Lindström" userId="e2164e0498dd284e" providerId="LiveId" clId="{7A0E95E1-3C7A-43FC-80A2-7D6B146ED67F}" dt="2026-04-21T16:14:09.113" v="271" actId="27636"/>
          <ac:spMkLst>
            <pc:docMk/>
            <pc:sldMk cId="37354508" sldId="262"/>
            <ac:spMk id="3" creationId="{C6752EDE-C581-D3E7-715A-B5697DC5583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1C71F23-B9E2-AA9E-FDDE-A64386713090}"/>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D0383B5D-830A-A631-6A87-AB116DE0B8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2CFE5DB0-02B6-D942-0988-428EE68EB5B6}"/>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5" name="Platshållare för sidfot 4">
            <a:extLst>
              <a:ext uri="{FF2B5EF4-FFF2-40B4-BE49-F238E27FC236}">
                <a16:creationId xmlns:a16="http://schemas.microsoft.com/office/drawing/2014/main" id="{3BC60E17-2A37-BFB1-1BEF-AEF019FE3CFC}"/>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A81353D7-6DD2-EBC2-CD1D-45CBA2555BCB}"/>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1716330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E5F39CF-6F44-B2AE-D5B4-9388EA205F93}"/>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79B22F85-6869-D921-042F-D1B20AB0EC8E}"/>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DA0A4F79-5019-6253-6CE4-A4F88612C6AC}"/>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5" name="Platshållare för sidfot 4">
            <a:extLst>
              <a:ext uri="{FF2B5EF4-FFF2-40B4-BE49-F238E27FC236}">
                <a16:creationId xmlns:a16="http://schemas.microsoft.com/office/drawing/2014/main" id="{79BFD834-4031-6B02-BE42-5232C10F69E6}"/>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B615FF62-F442-5C3D-E01E-576916D399C5}"/>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2714123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FF0F00D-938E-3AB9-1220-278007DEBBA0}"/>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6A74DEE2-3D81-B98E-4118-EF25A57506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593365A5-DDF8-D5F9-FF9B-EFA017C1E158}"/>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5" name="Platshållare för sidfot 4">
            <a:extLst>
              <a:ext uri="{FF2B5EF4-FFF2-40B4-BE49-F238E27FC236}">
                <a16:creationId xmlns:a16="http://schemas.microsoft.com/office/drawing/2014/main" id="{9C485C3A-7AD5-0927-38B7-533EBC05C8AD}"/>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B0208926-649A-D26A-EBE8-F418B2148E25}"/>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1265916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FEB2788-2F1E-29B5-B6F3-0FDFF06A820A}"/>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17EE0F0E-8EE7-A692-5BF2-7C3924A8CE18}"/>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64B3B0C1-9C0F-638D-F671-F8840182138D}"/>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6AC0FFB5-D7CC-EC69-32C8-FF5A9ACD326B}"/>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6" name="Platshållare för sidfot 5">
            <a:extLst>
              <a:ext uri="{FF2B5EF4-FFF2-40B4-BE49-F238E27FC236}">
                <a16:creationId xmlns:a16="http://schemas.microsoft.com/office/drawing/2014/main" id="{AFE842C5-A9A5-7152-860A-FDC5C1706BD6}"/>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68E7F72F-92AE-FC3F-CF30-1F88294E9835}"/>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3140866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D6966CB-0717-C88A-EDE0-A57E8C8511FC}"/>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25814D09-0B70-B346-4EF0-CFE8215A43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60337E2E-1F81-0208-15ED-695F3717B14C}"/>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9966B71D-8093-67B4-F34A-77AA8279F3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EDDD4280-F2C8-2326-DCC8-1DB46DBB7090}"/>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BE7FACD3-3920-3029-2DDE-66139B7B296E}"/>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8" name="Platshållare för sidfot 7">
            <a:extLst>
              <a:ext uri="{FF2B5EF4-FFF2-40B4-BE49-F238E27FC236}">
                <a16:creationId xmlns:a16="http://schemas.microsoft.com/office/drawing/2014/main" id="{3AA6BB1E-1EEC-98CB-E802-B55B2336E047}"/>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8DE768F0-A0D7-1821-24ED-D57FD223B0E4}"/>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93904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A03DB66-4C65-F69E-E2D3-54E157846C66}"/>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B9B8F448-E9C6-5116-6C07-A9CBD2817513}"/>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4" name="Platshållare för sidfot 3">
            <a:extLst>
              <a:ext uri="{FF2B5EF4-FFF2-40B4-BE49-F238E27FC236}">
                <a16:creationId xmlns:a16="http://schemas.microsoft.com/office/drawing/2014/main" id="{54E31084-4C20-8E37-55CC-76CE5220173F}"/>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6C4839C9-ACA1-F5AF-0245-F5F07B645560}"/>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922144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DDCD2EFB-2B98-6147-9B45-E0157E164883}"/>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3" name="Platshållare för sidfot 2">
            <a:extLst>
              <a:ext uri="{FF2B5EF4-FFF2-40B4-BE49-F238E27FC236}">
                <a16:creationId xmlns:a16="http://schemas.microsoft.com/office/drawing/2014/main" id="{87CC3124-3312-105E-0D1D-A9B898BD2BC9}"/>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32D91273-7578-E15D-FEE2-653D0E93957E}"/>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524447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59FD23C-EB68-44DA-C221-0C3BEFE43BD1}"/>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66EE4DCC-DFC2-100B-972C-5C01DE2B02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0236FB5B-2433-339F-2F90-C1948FD475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E86ED90B-887F-0BF8-8D6A-D55EE5300FA8}"/>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6" name="Platshållare för sidfot 5">
            <a:extLst>
              <a:ext uri="{FF2B5EF4-FFF2-40B4-BE49-F238E27FC236}">
                <a16:creationId xmlns:a16="http://schemas.microsoft.com/office/drawing/2014/main" id="{3F47794D-4EC6-C993-E3CC-94EA931910C9}"/>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FADC79ED-2203-B1D2-FDAA-9E80EFD52ADA}"/>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2375514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B01E099-AED0-EC35-B427-374C7A6A920B}"/>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AB5AE211-E3BC-F699-1F7B-7ED6398B34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7C05F287-4687-AFB0-496B-3A668AFA52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C01EED59-DAB2-DA86-4CB0-1FAD5E07085E}"/>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6" name="Platshållare för sidfot 5">
            <a:extLst>
              <a:ext uri="{FF2B5EF4-FFF2-40B4-BE49-F238E27FC236}">
                <a16:creationId xmlns:a16="http://schemas.microsoft.com/office/drawing/2014/main" id="{4143A03B-3453-BD0A-B48C-7C7D0DA50C89}"/>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26F57AB0-C46C-978F-3B71-424FC0A3D27A}"/>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3380661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A8B5344-293C-B661-ED3B-B051464D2586}"/>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FEA3F00C-2590-FF2E-868A-6F3E79499B9E}"/>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98EF6CD6-8244-35C9-76BD-99934BEABFC9}"/>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5" name="Platshållare för sidfot 4">
            <a:extLst>
              <a:ext uri="{FF2B5EF4-FFF2-40B4-BE49-F238E27FC236}">
                <a16:creationId xmlns:a16="http://schemas.microsoft.com/office/drawing/2014/main" id="{AAFF4E8B-21A6-AFE5-DEA6-A10ECD955A1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5EC8C6DD-67EF-22EF-8A0C-5D5444A6489B}"/>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3955923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391B9E8A-3BF7-DD5B-1DFF-541625C449B5}"/>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B3DC4081-7B32-F21E-F988-5891D4BCC6F0}"/>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CD69F25-A8A8-7B9E-A0F6-123AD7CCABDF}"/>
              </a:ext>
            </a:extLst>
          </p:cNvPr>
          <p:cNvSpPr>
            <a:spLocks noGrp="1"/>
          </p:cNvSpPr>
          <p:nvPr>
            <p:ph type="dt" sz="half" idx="10"/>
          </p:nvPr>
        </p:nvSpPr>
        <p:spPr/>
        <p:txBody>
          <a:bodyPr/>
          <a:lstStyle/>
          <a:p>
            <a:fld id="{528EDDF1-0042-44C4-AB81-83CA40A64AE8}" type="datetimeFigureOut">
              <a:rPr lang="sv-SE" smtClean="0"/>
              <a:t>2026-04-21</a:t>
            </a:fld>
            <a:endParaRPr lang="sv-SE"/>
          </a:p>
        </p:txBody>
      </p:sp>
      <p:sp>
        <p:nvSpPr>
          <p:cNvPr id="5" name="Platshållare för sidfot 4">
            <a:extLst>
              <a:ext uri="{FF2B5EF4-FFF2-40B4-BE49-F238E27FC236}">
                <a16:creationId xmlns:a16="http://schemas.microsoft.com/office/drawing/2014/main" id="{F8AA6716-1E10-96A7-94E5-AA338038D56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3132D9E9-BC7A-418C-81D2-F910BB8CA274}"/>
              </a:ext>
            </a:extLst>
          </p:cNvPr>
          <p:cNvSpPr>
            <a:spLocks noGrp="1"/>
          </p:cNvSpPr>
          <p:nvPr>
            <p:ph type="sldNum" sz="quarter" idx="12"/>
          </p:nvPr>
        </p:nvSpPr>
        <p:spPr/>
        <p:txBody>
          <a:bodyPr/>
          <a:lstStyle/>
          <a:p>
            <a:fld id="{5C420BAA-FCD9-4CC5-BDF4-FC30FFCC0C12}" type="slidenum">
              <a:rPr lang="sv-SE" smtClean="0"/>
              <a:t>‹#›</a:t>
            </a:fld>
            <a:endParaRPr lang="sv-SE"/>
          </a:p>
        </p:txBody>
      </p:sp>
    </p:spTree>
    <p:extLst>
      <p:ext uri="{BB962C8B-B14F-4D97-AF65-F5344CB8AC3E}">
        <p14:creationId xmlns:p14="http://schemas.microsoft.com/office/powerpoint/2010/main" val="382553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C1EFDF75-B76D-61C7-B5AF-4D1F53C108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9D4EBB8E-1571-D76F-ABD2-D380F77452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B57D68F-E6A6-623A-1C99-526DD47F93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EDDF1-0042-44C4-AB81-83CA40A64AE8}" type="datetimeFigureOut">
              <a:rPr lang="sv-SE" smtClean="0"/>
              <a:t>2026-04-21</a:t>
            </a:fld>
            <a:endParaRPr lang="sv-SE"/>
          </a:p>
        </p:txBody>
      </p:sp>
      <p:sp>
        <p:nvSpPr>
          <p:cNvPr id="5" name="Platshållare för sidfot 4">
            <a:extLst>
              <a:ext uri="{FF2B5EF4-FFF2-40B4-BE49-F238E27FC236}">
                <a16:creationId xmlns:a16="http://schemas.microsoft.com/office/drawing/2014/main" id="{4670DD1C-4147-6A8D-DE05-7F5A47DD2B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a:extLst>
              <a:ext uri="{FF2B5EF4-FFF2-40B4-BE49-F238E27FC236}">
                <a16:creationId xmlns:a16="http://schemas.microsoft.com/office/drawing/2014/main" id="{5E7CB65F-77FE-FA80-9E5F-B6E1D497C7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420BAA-FCD9-4CC5-BDF4-FC30FFCC0C12}" type="slidenum">
              <a:rPr lang="sv-SE" smtClean="0"/>
              <a:t>‹#›</a:t>
            </a:fld>
            <a:endParaRPr lang="sv-SE"/>
          </a:p>
        </p:txBody>
      </p:sp>
    </p:spTree>
    <p:extLst>
      <p:ext uri="{BB962C8B-B14F-4D97-AF65-F5344CB8AC3E}">
        <p14:creationId xmlns:p14="http://schemas.microsoft.com/office/powerpoint/2010/main" val="3854645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BAC2DB2-902E-FF99-F330-B294AC624440}"/>
              </a:ext>
            </a:extLst>
          </p:cNvPr>
          <p:cNvSpPr>
            <a:spLocks noGrp="1"/>
          </p:cNvSpPr>
          <p:nvPr>
            <p:ph type="ctrTitle"/>
          </p:nvPr>
        </p:nvSpPr>
        <p:spPr>
          <a:xfrm>
            <a:off x="1524000" y="354013"/>
            <a:ext cx="9144000" cy="1055687"/>
          </a:xfrm>
        </p:spPr>
        <p:txBody>
          <a:bodyPr>
            <a:normAutofit fontScale="90000"/>
          </a:bodyPr>
          <a:lstStyle/>
          <a:p>
            <a:r>
              <a:rPr lang="sv-SE" dirty="0"/>
              <a:t>E-handelsdataanalys i R</a:t>
            </a:r>
            <a:br>
              <a:rPr lang="sv-SE" dirty="0"/>
            </a:br>
            <a:r>
              <a:rPr lang="sv-SE" sz="2200" dirty="0" err="1"/>
              <a:t>Bilal</a:t>
            </a:r>
            <a:r>
              <a:rPr lang="sv-SE" sz="2200" dirty="0"/>
              <a:t>, Elias, Jack, Tobias och Jonas</a:t>
            </a:r>
          </a:p>
        </p:txBody>
      </p:sp>
      <p:sp>
        <p:nvSpPr>
          <p:cNvPr id="3" name="Underrubrik 2">
            <a:extLst>
              <a:ext uri="{FF2B5EF4-FFF2-40B4-BE49-F238E27FC236}">
                <a16:creationId xmlns:a16="http://schemas.microsoft.com/office/drawing/2014/main" id="{CC3A427F-9ABE-633D-1611-DC98EA321951}"/>
              </a:ext>
            </a:extLst>
          </p:cNvPr>
          <p:cNvSpPr>
            <a:spLocks noGrp="1"/>
          </p:cNvSpPr>
          <p:nvPr>
            <p:ph type="subTitle" idx="1"/>
          </p:nvPr>
        </p:nvSpPr>
        <p:spPr>
          <a:xfrm>
            <a:off x="1524000" y="2095500"/>
            <a:ext cx="9144000" cy="2146300"/>
          </a:xfrm>
        </p:spPr>
        <p:txBody>
          <a:bodyPr/>
          <a:lstStyle/>
          <a:p>
            <a:r>
              <a:rPr lang="sv-SE" dirty="0"/>
              <a:t>Syftet med arbetet var att analysera företagets orderdata för att få en bättre förståelse för försäljning, returer, kundbeteenden och betalningsmetoder. Målet var att använda data som underlag för beslut och att hitta mönster i vilka produktkategorier som driver mest försäljning, vilka produkter som oftare returneras och om olika betalningsmetoder verkar hänga ihop med olika ordervärden.</a:t>
            </a:r>
          </a:p>
        </p:txBody>
      </p:sp>
      <p:sp>
        <p:nvSpPr>
          <p:cNvPr id="4" name="Underrubrik 2">
            <a:extLst>
              <a:ext uri="{FF2B5EF4-FFF2-40B4-BE49-F238E27FC236}">
                <a16:creationId xmlns:a16="http://schemas.microsoft.com/office/drawing/2014/main" id="{5E25A7B1-648F-936A-7CD6-4565EA6AB0EE}"/>
              </a:ext>
            </a:extLst>
          </p:cNvPr>
          <p:cNvSpPr txBox="1">
            <a:spLocks/>
          </p:cNvSpPr>
          <p:nvPr/>
        </p:nvSpPr>
        <p:spPr>
          <a:xfrm>
            <a:off x="1524000" y="4762500"/>
            <a:ext cx="9144000" cy="21463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sv-SE" dirty="0"/>
              <a:t>Valda frågeställningar</a:t>
            </a:r>
          </a:p>
          <a:p>
            <a:r>
              <a:rPr lang="sv-SE" sz="2000" dirty="0"/>
              <a:t>Vilka produktkategorier verkar driva högst försäljning?</a:t>
            </a:r>
          </a:p>
          <a:p>
            <a:r>
              <a:rPr lang="sv-SE" sz="2000" dirty="0"/>
              <a:t>Hur skiljer sig returgrad mellan olika kategorier?</a:t>
            </a:r>
          </a:p>
          <a:p>
            <a:r>
              <a:rPr lang="sv-SE" sz="2000" dirty="0"/>
              <a:t>Betalningsmetod mot enhetspris för att se fall om det finns en korrelation?</a:t>
            </a:r>
          </a:p>
        </p:txBody>
      </p:sp>
    </p:spTree>
    <p:extLst>
      <p:ext uri="{BB962C8B-B14F-4D97-AF65-F5344CB8AC3E}">
        <p14:creationId xmlns:p14="http://schemas.microsoft.com/office/powerpoint/2010/main" val="3953451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026C994-65FF-9732-77A1-B649D53AB6E7}"/>
              </a:ext>
            </a:extLst>
          </p:cNvPr>
          <p:cNvSpPr>
            <a:spLocks noGrp="1"/>
          </p:cNvSpPr>
          <p:nvPr>
            <p:ph type="title"/>
          </p:nvPr>
        </p:nvSpPr>
        <p:spPr/>
        <p:txBody>
          <a:bodyPr/>
          <a:lstStyle/>
          <a:p>
            <a:pPr algn="ctr"/>
            <a:r>
              <a:rPr lang="sv-SE" dirty="0"/>
              <a:t>Metod och Dataförståelse</a:t>
            </a:r>
          </a:p>
        </p:txBody>
      </p:sp>
      <p:sp>
        <p:nvSpPr>
          <p:cNvPr id="3" name="Platshållare för innehåll 2">
            <a:extLst>
              <a:ext uri="{FF2B5EF4-FFF2-40B4-BE49-F238E27FC236}">
                <a16:creationId xmlns:a16="http://schemas.microsoft.com/office/drawing/2014/main" id="{9ABC6592-74ED-85EB-720C-A2454EDC6F85}"/>
              </a:ext>
            </a:extLst>
          </p:cNvPr>
          <p:cNvSpPr>
            <a:spLocks noGrp="1"/>
          </p:cNvSpPr>
          <p:nvPr>
            <p:ph idx="1"/>
          </p:nvPr>
        </p:nvSpPr>
        <p:spPr/>
        <p:txBody>
          <a:bodyPr/>
          <a:lstStyle/>
          <a:p>
            <a:r>
              <a:rPr lang="sv-SE" dirty="0"/>
              <a:t>1000 </a:t>
            </a:r>
            <a:r>
              <a:rPr lang="sv-SE" dirty="0" err="1"/>
              <a:t>ordrar</a:t>
            </a:r>
            <a:endParaRPr lang="sv-SE" dirty="0"/>
          </a:p>
          <a:p>
            <a:r>
              <a:rPr lang="sv-SE" dirty="0"/>
              <a:t>16 variabler</a:t>
            </a:r>
          </a:p>
          <a:p>
            <a:r>
              <a:rPr lang="sv-SE" dirty="0"/>
              <a:t>Hantering av saknade värden (NA)</a:t>
            </a:r>
          </a:p>
        </p:txBody>
      </p:sp>
    </p:spTree>
    <p:extLst>
      <p:ext uri="{BB962C8B-B14F-4D97-AF65-F5344CB8AC3E}">
        <p14:creationId xmlns:p14="http://schemas.microsoft.com/office/powerpoint/2010/main" val="2859858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DFAE203-21A2-A7C4-CCF8-A3B2BEA3D490}"/>
              </a:ext>
            </a:extLst>
          </p:cNvPr>
          <p:cNvSpPr>
            <a:spLocks noGrp="1"/>
          </p:cNvSpPr>
          <p:nvPr>
            <p:ph type="title"/>
          </p:nvPr>
        </p:nvSpPr>
        <p:spPr/>
        <p:txBody>
          <a:bodyPr>
            <a:normAutofit fontScale="90000"/>
          </a:bodyPr>
          <a:lstStyle/>
          <a:p>
            <a:pPr algn="ctr"/>
            <a:r>
              <a:rPr lang="sv-SE" sz="4000" dirty="0"/>
              <a:t>Vilka produktkategorier verkar driva högst försäljning?</a:t>
            </a:r>
            <a:br>
              <a:rPr lang="sv-SE" dirty="0"/>
            </a:br>
            <a:endParaRPr lang="sv-SE" dirty="0"/>
          </a:p>
        </p:txBody>
      </p:sp>
      <p:pic>
        <p:nvPicPr>
          <p:cNvPr id="5" name="Platshållare för innehåll 4">
            <a:extLst>
              <a:ext uri="{FF2B5EF4-FFF2-40B4-BE49-F238E27FC236}">
                <a16:creationId xmlns:a16="http://schemas.microsoft.com/office/drawing/2014/main" id="{135F435D-08C7-58B7-7FC5-6EE5569C35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704" y="1825625"/>
            <a:ext cx="6650592" cy="4351338"/>
          </a:xfrm>
          <a:prstGeom prst="rect">
            <a:avLst/>
          </a:prstGeom>
        </p:spPr>
      </p:pic>
    </p:spTree>
    <p:extLst>
      <p:ext uri="{BB962C8B-B14F-4D97-AF65-F5344CB8AC3E}">
        <p14:creationId xmlns:p14="http://schemas.microsoft.com/office/powerpoint/2010/main" val="492862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5F897E7-D893-BC62-EE7D-1487DB9FBCFA}"/>
              </a:ext>
            </a:extLst>
          </p:cNvPr>
          <p:cNvSpPr>
            <a:spLocks noGrp="1"/>
          </p:cNvSpPr>
          <p:nvPr>
            <p:ph type="title"/>
          </p:nvPr>
        </p:nvSpPr>
        <p:spPr/>
        <p:txBody>
          <a:bodyPr>
            <a:normAutofit/>
          </a:bodyPr>
          <a:lstStyle/>
          <a:p>
            <a:pPr algn="ctr"/>
            <a:r>
              <a:rPr lang="sv-SE" sz="3600" dirty="0"/>
              <a:t>Hur skiljer sig returgrad mellan olika kategorier?</a:t>
            </a:r>
          </a:p>
        </p:txBody>
      </p:sp>
      <p:pic>
        <p:nvPicPr>
          <p:cNvPr id="9" name="Platshållare för innehåll 8">
            <a:extLst>
              <a:ext uri="{FF2B5EF4-FFF2-40B4-BE49-F238E27FC236}">
                <a16:creationId xmlns:a16="http://schemas.microsoft.com/office/drawing/2014/main" id="{6B5F6972-28A2-BCF9-D171-6E4C8E4DC8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704" y="1825625"/>
            <a:ext cx="6650592" cy="4351338"/>
          </a:xfrm>
          <a:prstGeom prst="rect">
            <a:avLst/>
          </a:prstGeom>
        </p:spPr>
      </p:pic>
    </p:spTree>
    <p:extLst>
      <p:ext uri="{BB962C8B-B14F-4D97-AF65-F5344CB8AC3E}">
        <p14:creationId xmlns:p14="http://schemas.microsoft.com/office/powerpoint/2010/main" val="3008716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F503445-BA83-9218-D0A2-57B271D6224E}"/>
              </a:ext>
            </a:extLst>
          </p:cNvPr>
          <p:cNvSpPr>
            <a:spLocks noGrp="1"/>
          </p:cNvSpPr>
          <p:nvPr>
            <p:ph type="title"/>
          </p:nvPr>
        </p:nvSpPr>
        <p:spPr/>
        <p:txBody>
          <a:bodyPr>
            <a:normAutofit fontScale="90000"/>
          </a:bodyPr>
          <a:lstStyle/>
          <a:p>
            <a:pPr algn="ctr"/>
            <a:r>
              <a:rPr lang="sv-SE" sz="4000" dirty="0"/>
              <a:t>Betalningsmetod mot enhetspris för att se fall om det finns en korrelation?</a:t>
            </a:r>
            <a:br>
              <a:rPr lang="sv-SE" dirty="0"/>
            </a:br>
            <a:endParaRPr lang="sv-SE" dirty="0"/>
          </a:p>
        </p:txBody>
      </p:sp>
      <p:pic>
        <p:nvPicPr>
          <p:cNvPr id="5" name="Platshållare för innehåll 4">
            <a:extLst>
              <a:ext uri="{FF2B5EF4-FFF2-40B4-BE49-F238E27FC236}">
                <a16:creationId xmlns:a16="http://schemas.microsoft.com/office/drawing/2014/main" id="{1A7E5073-EA28-ED5F-3832-3DEC9C6AFF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704" y="1825625"/>
            <a:ext cx="6650592" cy="4351338"/>
          </a:xfrm>
          <a:prstGeom prst="rect">
            <a:avLst/>
          </a:prstGeom>
        </p:spPr>
      </p:pic>
    </p:spTree>
    <p:extLst>
      <p:ext uri="{BB962C8B-B14F-4D97-AF65-F5344CB8AC3E}">
        <p14:creationId xmlns:p14="http://schemas.microsoft.com/office/powerpoint/2010/main" val="3192255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0F086F6-F90B-7629-57D3-43E0405B81D4}"/>
              </a:ext>
            </a:extLst>
          </p:cNvPr>
          <p:cNvSpPr>
            <a:spLocks noGrp="1"/>
          </p:cNvSpPr>
          <p:nvPr>
            <p:ph type="title"/>
          </p:nvPr>
        </p:nvSpPr>
        <p:spPr/>
        <p:txBody>
          <a:bodyPr/>
          <a:lstStyle/>
          <a:p>
            <a:pPr algn="ctr"/>
            <a:r>
              <a:rPr lang="sv-SE"/>
              <a:t>Viktigaste resultat </a:t>
            </a:r>
          </a:p>
        </p:txBody>
      </p:sp>
      <p:sp>
        <p:nvSpPr>
          <p:cNvPr id="3" name="Platshållare för innehåll 2">
            <a:extLst>
              <a:ext uri="{FF2B5EF4-FFF2-40B4-BE49-F238E27FC236}">
                <a16:creationId xmlns:a16="http://schemas.microsoft.com/office/drawing/2014/main" id="{E0FE7084-07EF-DDF5-B5B9-964FB7E887B6}"/>
              </a:ext>
            </a:extLst>
          </p:cNvPr>
          <p:cNvSpPr>
            <a:spLocks noGrp="1"/>
          </p:cNvSpPr>
          <p:nvPr>
            <p:ph idx="1"/>
          </p:nvPr>
        </p:nvSpPr>
        <p:spPr/>
        <p:txBody>
          <a:bodyPr>
            <a:normAutofit fontScale="92500" lnSpcReduction="20000"/>
          </a:bodyPr>
          <a:lstStyle/>
          <a:p>
            <a:pPr marL="0" indent="0">
              <a:buNone/>
            </a:pPr>
            <a:r>
              <a:rPr lang="sv-SE" dirty="0"/>
              <a:t>Resultaten visar att elektronik var den kategori som drev högst försäljning, med en total omsättning på cirka 166 655. Därefter kom hem med cirka 65 353, sport med cirka 58 750, mode med cirka 34 540 och skönhet med cirka 13 020. Detta visar att elektronik är den klart viktigaste kategorin i </a:t>
            </a:r>
            <a:r>
              <a:rPr lang="sv-SE" dirty="0" err="1"/>
              <a:t>datat</a:t>
            </a:r>
            <a:r>
              <a:rPr lang="sv-SE" dirty="0"/>
              <a:t> när det gäller intäkter.</a:t>
            </a:r>
          </a:p>
          <a:p>
            <a:pPr marL="0" indent="0">
              <a:buNone/>
            </a:pPr>
            <a:r>
              <a:rPr lang="sv-SE" dirty="0"/>
              <a:t>När returgrad analyserades på underkategorinivå hade kök, hudvård och bärbar dator bland de högsta nivåerna, med returgrader på ungefär 22,6 procent, 22,0 procent respektive 18,3 procent. Samtidigt hade träning, hörlurar och cykling lägre returgrad. Det tyder på att vissa typer av produkter returneras oftare än andra.</a:t>
            </a:r>
          </a:p>
          <a:p>
            <a:pPr marL="0" indent="0">
              <a:buNone/>
            </a:pPr>
            <a:r>
              <a:rPr lang="sv-SE" dirty="0"/>
              <a:t>Analysen visade också att </a:t>
            </a:r>
            <a:r>
              <a:rPr lang="sv-SE" dirty="0" err="1"/>
              <a:t>kundsegmentet</a:t>
            </a:r>
            <a:r>
              <a:rPr lang="sv-SE" dirty="0"/>
              <a:t> konsument stod för flest </a:t>
            </a:r>
            <a:r>
              <a:rPr lang="sv-SE" dirty="0" err="1"/>
              <a:t>ordrar</a:t>
            </a:r>
            <a:r>
              <a:rPr lang="sv-SE" dirty="0"/>
              <a:t>, totalt 529, medan region nord hade både flest </a:t>
            </a:r>
            <a:r>
              <a:rPr lang="sv-SE" dirty="0" err="1"/>
              <a:t>ordrar</a:t>
            </a:r>
            <a:r>
              <a:rPr lang="sv-SE" dirty="0"/>
              <a:t> och högst total försäljning. När betalningsmetoder jämfördes var kort den vanligaste metoden med 442 </a:t>
            </a:r>
            <a:r>
              <a:rPr lang="sv-SE" dirty="0" err="1"/>
              <a:t>ordrar</a:t>
            </a:r>
            <a:r>
              <a:rPr lang="sv-SE" dirty="0"/>
              <a:t>. Samtidigt</a:t>
            </a:r>
          </a:p>
        </p:txBody>
      </p:sp>
    </p:spTree>
    <p:extLst>
      <p:ext uri="{BB962C8B-B14F-4D97-AF65-F5344CB8AC3E}">
        <p14:creationId xmlns:p14="http://schemas.microsoft.com/office/powerpoint/2010/main" val="4041843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A936563-CED3-EFCF-2449-9D3F10BB5B66}"/>
              </a:ext>
            </a:extLst>
          </p:cNvPr>
          <p:cNvSpPr>
            <a:spLocks noGrp="1"/>
          </p:cNvSpPr>
          <p:nvPr>
            <p:ph type="title"/>
          </p:nvPr>
        </p:nvSpPr>
        <p:spPr/>
        <p:txBody>
          <a:bodyPr/>
          <a:lstStyle/>
          <a:p>
            <a:pPr algn="ctr"/>
            <a:r>
              <a:rPr lang="sv-SE" dirty="0"/>
              <a:t>Slutsatser och begränsningar</a:t>
            </a:r>
          </a:p>
        </p:txBody>
      </p:sp>
      <p:sp>
        <p:nvSpPr>
          <p:cNvPr id="3" name="Platshållare för innehåll 2">
            <a:extLst>
              <a:ext uri="{FF2B5EF4-FFF2-40B4-BE49-F238E27FC236}">
                <a16:creationId xmlns:a16="http://schemas.microsoft.com/office/drawing/2014/main" id="{C6752EDE-C581-D3E7-715A-B5697DC5583E}"/>
              </a:ext>
            </a:extLst>
          </p:cNvPr>
          <p:cNvSpPr>
            <a:spLocks noGrp="1"/>
          </p:cNvSpPr>
          <p:nvPr>
            <p:ph idx="1"/>
          </p:nvPr>
        </p:nvSpPr>
        <p:spPr/>
        <p:txBody>
          <a:bodyPr>
            <a:normAutofit fontScale="92500"/>
          </a:bodyPr>
          <a:lstStyle/>
          <a:p>
            <a:pPr marL="0" indent="0">
              <a:buNone/>
            </a:pPr>
            <a:r>
              <a:rPr lang="sv-SE" dirty="0"/>
              <a:t>Sammanfattningsvis visar analysen att företagets försäljning framför allt drivs av kategorin elektronik och att returgraden varierar tydligt mellan olika produktgrupper. Det finns också skillnader mellan regioner, kundsegment och betalningsmetoder, vilket kan vara relevant för framtida affärsbeslut.</a:t>
            </a:r>
          </a:p>
          <a:p>
            <a:pPr marL="0" indent="0">
              <a:buNone/>
            </a:pPr>
            <a:endParaRPr lang="sv-SE"/>
          </a:p>
          <a:p>
            <a:pPr marL="0" indent="0">
              <a:buNone/>
            </a:pPr>
            <a:r>
              <a:rPr lang="sv-SE"/>
              <a:t>En </a:t>
            </a:r>
            <a:r>
              <a:rPr lang="sv-SE" dirty="0"/>
              <a:t>begränsning är att analysen är beskrivande och därför inte kan visa säkra orsakssamband. Resultaten påverkas också av hur saknade värden har hanterats och av att analysen bygger på ett enda </a:t>
            </a:r>
            <a:r>
              <a:rPr lang="sv-SE" dirty="0" err="1"/>
              <a:t>dataset</a:t>
            </a:r>
            <a:r>
              <a:rPr lang="sv-SE" dirty="0"/>
              <a:t>. Trots detta ger analysen en tydlig överblick av verksamheten och kan fungera som ett bra underlag för vidare arbete.</a:t>
            </a:r>
          </a:p>
        </p:txBody>
      </p:sp>
    </p:spTree>
    <p:extLst>
      <p:ext uri="{BB962C8B-B14F-4D97-AF65-F5344CB8AC3E}">
        <p14:creationId xmlns:p14="http://schemas.microsoft.com/office/powerpoint/2010/main" val="37354508"/>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401</Words>
  <Application>Microsoft Office PowerPoint</Application>
  <PresentationFormat>Bredbild</PresentationFormat>
  <Paragraphs>21</Paragraphs>
  <Slides>7</Slides>
  <Notes>0</Notes>
  <HiddenSlides>0</HiddenSlides>
  <MMClips>0</MMClips>
  <ScaleCrop>false</ScaleCrop>
  <HeadingPairs>
    <vt:vector size="6" baseType="variant">
      <vt:variant>
        <vt:lpstr>Använt teckensnitt</vt:lpstr>
      </vt:variant>
      <vt:variant>
        <vt:i4>3</vt:i4>
      </vt:variant>
      <vt:variant>
        <vt:lpstr>Tema</vt:lpstr>
      </vt:variant>
      <vt:variant>
        <vt:i4>1</vt:i4>
      </vt:variant>
      <vt:variant>
        <vt:lpstr>Bildrubriker</vt:lpstr>
      </vt:variant>
      <vt:variant>
        <vt:i4>7</vt:i4>
      </vt:variant>
    </vt:vector>
  </HeadingPairs>
  <TitlesOfParts>
    <vt:vector size="11" baseType="lpstr">
      <vt:lpstr>Aptos</vt:lpstr>
      <vt:lpstr>Aptos Display</vt:lpstr>
      <vt:lpstr>Arial</vt:lpstr>
      <vt:lpstr>Office-tema</vt:lpstr>
      <vt:lpstr>E-handelsdataanalys i R Bilal, Elias, Jack, Tobias och Jonas</vt:lpstr>
      <vt:lpstr>Metod och Dataförståelse</vt:lpstr>
      <vt:lpstr>Vilka produktkategorier verkar driva högst försäljning? </vt:lpstr>
      <vt:lpstr>Hur skiljer sig returgrad mellan olika kategorier?</vt:lpstr>
      <vt:lpstr>Betalningsmetod mot enhetspris för att se fall om det finns en korrelation? </vt:lpstr>
      <vt:lpstr>Viktigaste resultat </vt:lpstr>
      <vt:lpstr>Slutsatser och begränsningar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Elias Stålhjärta</dc:creator>
  <cp:lastModifiedBy>Jonas Lindström</cp:lastModifiedBy>
  <cp:revision>1</cp:revision>
  <dcterms:created xsi:type="dcterms:W3CDTF">2026-03-31T12:27:49Z</dcterms:created>
  <dcterms:modified xsi:type="dcterms:W3CDTF">2026-04-21T16:14:11Z</dcterms:modified>
</cp:coreProperties>
</file>